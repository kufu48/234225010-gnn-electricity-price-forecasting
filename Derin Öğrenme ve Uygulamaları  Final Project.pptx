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77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8" r:id="rId16"/>
    <p:sldId id="269" r:id="rId17"/>
    <p:sldId id="270" r:id="rId18"/>
    <p:sldId id="279" r:id="rId19"/>
    <p:sldId id="271" r:id="rId20"/>
    <p:sldId id="272" r:id="rId21"/>
    <p:sldId id="273" r:id="rId22"/>
    <p:sldId id="280" r:id="rId23"/>
    <p:sldId id="274" r:id="rId24"/>
    <p:sldId id="281" r:id="rId25"/>
    <p:sldId id="282" r:id="rId26"/>
    <p:sldId id="275" r:id="rId27"/>
    <p:sldId id="283" r:id="rId28"/>
    <p:sldId id="276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BCD00-2027-4DB0-956D-792F83E7060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9407E-5D84-4A53-92CC-42E9C1175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199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BCD00-2027-4DB0-956D-792F83E7060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9407E-5D84-4A53-92CC-42E9C1175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774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BCD00-2027-4DB0-956D-792F83E7060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9407E-5D84-4A53-92CC-42E9C1175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45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BCD00-2027-4DB0-956D-792F83E7060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9407E-5D84-4A53-92CC-42E9C1175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325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BCD00-2027-4DB0-956D-792F83E7060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9407E-5D84-4A53-92CC-42E9C1175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416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BCD00-2027-4DB0-956D-792F83E7060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9407E-5D84-4A53-92CC-42E9C1175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8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BCD00-2027-4DB0-956D-792F83E7060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9407E-5D84-4A53-92CC-42E9C1175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249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BCD00-2027-4DB0-956D-792F83E7060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9407E-5D84-4A53-92CC-42E9C1175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908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BCD00-2027-4DB0-956D-792F83E7060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9407E-5D84-4A53-92CC-42E9C1175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08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BCD00-2027-4DB0-956D-792F83E7060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9407E-5D84-4A53-92CC-42E9C1175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21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BCD00-2027-4DB0-956D-792F83E7060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9407E-5D84-4A53-92CC-42E9C1175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56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EFBCD00-2027-4DB0-956D-792F83E7060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9319407E-5D84-4A53-92CC-42E9C1175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5675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6D2E0-FFD7-2920-9A83-999EE08D5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231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Graph Neural Network (GNN) </a:t>
            </a:r>
            <a:r>
              <a:rPr lang="en-US" b="1" dirty="0" err="1"/>
              <a:t>ile</a:t>
            </a:r>
            <a:br>
              <a:rPr lang="en-US" b="1" dirty="0"/>
            </a:br>
            <a:r>
              <a:rPr lang="en-US" b="1" dirty="0"/>
              <a:t>Türkiye </a:t>
            </a:r>
            <a:r>
              <a:rPr lang="en-US" b="1" dirty="0" err="1"/>
              <a:t>Elektrik</a:t>
            </a:r>
            <a:r>
              <a:rPr lang="en-US" b="1" dirty="0"/>
              <a:t> </a:t>
            </a:r>
            <a:r>
              <a:rPr lang="en-US" b="1" dirty="0" err="1"/>
              <a:t>Piyasasında</a:t>
            </a:r>
            <a:br>
              <a:rPr lang="en-US" b="1" dirty="0"/>
            </a:br>
            <a:r>
              <a:rPr lang="en-US" b="1" dirty="0" err="1"/>
              <a:t>Yenilenebilir</a:t>
            </a:r>
            <a:r>
              <a:rPr lang="en-US" b="1" dirty="0"/>
              <a:t> </a:t>
            </a:r>
            <a:r>
              <a:rPr lang="en-US" b="1" dirty="0" err="1"/>
              <a:t>Üretimin</a:t>
            </a:r>
            <a:r>
              <a:rPr lang="en-US" b="1" dirty="0"/>
              <a:t> </a:t>
            </a:r>
            <a:r>
              <a:rPr lang="en-US" b="1" dirty="0" err="1"/>
              <a:t>Fiyatlara</a:t>
            </a:r>
            <a:r>
              <a:rPr lang="en-US" b="1" dirty="0"/>
              <a:t> </a:t>
            </a:r>
            <a:r>
              <a:rPr lang="en-US" b="1" dirty="0" err="1"/>
              <a:t>Etkisinin</a:t>
            </a:r>
            <a:r>
              <a:rPr lang="en-US" b="1" dirty="0"/>
              <a:t> </a:t>
            </a:r>
            <a:r>
              <a:rPr lang="en-US" b="1" dirty="0" err="1"/>
              <a:t>Modellemesi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271387-FE05-793F-1D21-DE31D677FF8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4763585"/>
            <a:ext cx="434285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PTF / SMF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Tahmini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 Attention Network (GAT)</a:t>
            </a:r>
            <a:endParaRPr kumimoji="0" lang="tr-T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Ufuk Karaoğlan</a:t>
            </a:r>
            <a:r>
              <a:rPr kumimoji="0" lang="tr-T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234225010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Derin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Öğrenme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Uygulamaları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2025</a:t>
            </a:r>
          </a:p>
        </p:txBody>
      </p:sp>
    </p:spTree>
    <p:extLst>
      <p:ext uri="{BB962C8B-B14F-4D97-AF65-F5344CB8AC3E}">
        <p14:creationId xmlns:p14="http://schemas.microsoft.com/office/powerpoint/2010/main" val="160077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E4E0C-D13D-071A-7037-CFFCFE4E1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İçindekiler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A89893D-BEA8-1787-2CAE-7CDF246B4E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85248"/>
            <a:ext cx="5697394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Tanımı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Motivasyon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Elektrik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Piyasasında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Fiyat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Oluşumu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Neden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GNN / GAT?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 Seti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Ön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İşleme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Graph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Modelleme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Yaklaşımı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Mimarisi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Baseline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Sonuçları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Attention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Analizi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Beklenen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Sonuçlar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Değerlendirme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Sonuç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Katkılar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3473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C6C74-A9C6-A1B5-D3C7-9C0FE5C81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</a:t>
            </a:r>
            <a:r>
              <a:rPr lang="en-US" dirty="0" err="1"/>
              <a:t>Tanımı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3B101A-9222-633B-A342-12660ABF45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308797"/>
            <a:ext cx="9716121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Elektrik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piyasasında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fiyatlar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(PTF / SMF)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saatlik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olarak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belirlenir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Fiyatlar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yalnızca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talebe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değil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üretim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portföyüne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bağlıdır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Yenilenebilir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üretim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arttıkça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fiyat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dinamikleri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karmaşıklaşır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01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7280A-DA79-A483-0BC8-9796BCD34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Motivasyon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83DCE44-A678-D535-CCA6-9C173126B1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308797"/>
            <a:ext cx="922079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Rüzgar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güneş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üretimi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kesintili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(intermittent)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kaynaklardır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 durum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fiyat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oynaklığını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artırır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Klasik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modeller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kaynaklar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arası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etkileşimi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yakalayamaz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610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Elektrik</a:t>
            </a:r>
            <a:r>
              <a:rPr lang="en-US" dirty="0"/>
              <a:t> </a:t>
            </a:r>
            <a:r>
              <a:rPr lang="en-US" dirty="0" err="1"/>
              <a:t>Fiyatlarının</a:t>
            </a:r>
            <a:r>
              <a:rPr lang="en-US" dirty="0"/>
              <a:t> Zaman </a:t>
            </a:r>
            <a:r>
              <a:rPr lang="en-US" dirty="0" err="1"/>
              <a:t>İçindeki</a:t>
            </a:r>
            <a:r>
              <a:rPr lang="en-US" dirty="0"/>
              <a:t> </a:t>
            </a:r>
            <a:r>
              <a:rPr lang="en-US" dirty="0" err="1"/>
              <a:t>Davranışı</a:t>
            </a:r>
            <a:br>
              <a:rPr lang="en-US" dirty="0"/>
            </a:br>
            <a:endParaRPr dirty="0"/>
          </a:p>
        </p:txBody>
      </p:sp>
      <p:pic>
        <p:nvPicPr>
          <p:cNvPr id="4" name="Picture 3" descr="page_3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097280"/>
            <a:ext cx="8229600" cy="2947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42042-902C-ED0D-BCAB-A67D3C1B4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Elektrik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 Bir </a:t>
            </a:r>
            <a:r>
              <a:rPr lang="en-US" dirty="0" err="1"/>
              <a:t>Ağdır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11C0E-7385-21D5-8CF8-034E160EB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7026" y="3270967"/>
            <a:ext cx="10515600" cy="4351338"/>
          </a:xfrm>
        </p:spPr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Elektrik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Graph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Yapısı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Üretim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kaynakları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birlikte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çalışır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kaynaktaki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değişim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diğerlerini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etkiler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yapı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doğal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olarak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şeklindedir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716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86D5E-4C85-8E3A-C5B2-95B3C8D5D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Neden</a:t>
            </a:r>
            <a:r>
              <a:rPr lang="en-US" dirty="0"/>
              <a:t> GNN?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CF07A-8994-00AE-E466-0F32B5465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Neden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Graph Neural Network?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edge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ilişkilerini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öğrenir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Komşu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düğümlerden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toplar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Zaman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ilişki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yapısını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birlikte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kullanır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832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57E1D-4CA9-B45B-24B9-F4B55A4F8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Neden</a:t>
            </a:r>
            <a:r>
              <a:rPr lang="en-US" dirty="0"/>
              <a:t> Graph Attention Network?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DF376-CECC-A860-6DF4-DC7AC7072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Neden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komşuya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eşit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ağırlık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vermez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Önemli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düğümlere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fazla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attention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Açıklanabilirlik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sağlar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193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D04FD-2595-1F05-9028-3FE753C23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 Seti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4BDF8-3712-3970-AFB6-9A0A37E95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Kullanılan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Veri Seti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Kaynak: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TEİAŞ TPYS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Zaman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çözünürlüğü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6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saatlik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Değişkenler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RES, GES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HES,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Doğalgaz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Kömür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PTF / SMF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172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CF74F-EC7F-62D2-757D-FF07FC858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Ön</a:t>
            </a:r>
            <a:r>
              <a:rPr lang="en-US" dirty="0"/>
              <a:t> </a:t>
            </a:r>
            <a:r>
              <a:rPr lang="en-US" dirty="0" err="1"/>
              <a:t>İşleme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EE935-47BF-797D-E3EA-45BD54656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Ön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İşleme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Tarih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datetime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Eksik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verilerin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temizlenmesi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Normalizasyon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Lag feature: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önceki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fiyat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500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92BA6-7A00-2877-8205-7296E5E2E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</a:t>
            </a:r>
            <a:r>
              <a:rPr lang="en-US" dirty="0" err="1"/>
              <a:t>Tanımı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81AF5-6289-510E-FF8B-C78F2A341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Modelleme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Üretim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Kaynağı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Kaynaklar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arası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etkileşim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Graph-level output: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PTF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tahmini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285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31A9C-95E6-4B0B-8F9D-B84E4D6F4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 Feature </a:t>
            </a:r>
            <a:r>
              <a:rPr lang="en-US" dirty="0" err="1"/>
              <a:t>Yapısı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76DD5-9379-8E93-1C84-4CCD9957F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Feature’lar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 24 zaman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adımı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üretim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Saat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bilgisi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(sin / cos)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Gün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bilgisi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Önceki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fiyat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405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BEA6C-4CE3-7FBF-55C2-53E24BD85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</a:t>
            </a:r>
            <a:r>
              <a:rPr lang="en-US" dirty="0" err="1"/>
              <a:t>Mimarisi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659D9-3930-745A-25FC-E355E2663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235813" cy="5032375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Mimarisi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Features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GATConv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(multi-head)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ELU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GATConv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Pooling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PTF</a:t>
            </a:r>
          </a:p>
        </p:txBody>
      </p:sp>
    </p:spTree>
    <p:extLst>
      <p:ext uri="{BB962C8B-B14F-4D97-AF65-F5344CB8AC3E}">
        <p14:creationId xmlns:p14="http://schemas.microsoft.com/office/powerpoint/2010/main" val="1973486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EBFE8-5BDB-A33B-2386-761411853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C556C-FC14-77A3-1999-94185FDE7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Baseline: Ridge Regression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kullanılmadan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Sadece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üretim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zaman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bilgisi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Referans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performans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için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258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201" y="182880"/>
            <a:ext cx="673953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sz="2800"/>
              <a:t>Baseline Model (Ridge) – Gerçek vs Tahmin</a:t>
            </a:r>
          </a:p>
        </p:txBody>
      </p:sp>
      <p:pic>
        <p:nvPicPr>
          <p:cNvPr id="4" name="Picture 3" descr="page_5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097280"/>
            <a:ext cx="8229600" cy="294453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BFE75-58AD-1499-9318-CEF31F86E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</a:t>
            </a:r>
            <a:r>
              <a:rPr lang="en-US" dirty="0" err="1"/>
              <a:t>Sonuçları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FA4EA-80C8-1213-EB77-F2B8D7172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Sonuçları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RMSE: Yüksek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Düşük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Negatif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takibi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zayıf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231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04710-8EC2-27B0-1517-002FD1AD5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GAT </a:t>
            </a:r>
            <a:r>
              <a:rPr lang="en-US" dirty="0" err="1"/>
              <a:t>Sonuçları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5E9D-1A61-268D-F60B-7D10B80B4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 Model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Sonuçları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Daha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düşük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RMSE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Daha iyi trend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takibi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Daha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yüksek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R²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4327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200" y="182880"/>
            <a:ext cx="495372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sz="2800"/>
              <a:t>GAT Modeli – Gerçek vs Tahmin</a:t>
            </a:r>
          </a:p>
        </p:txBody>
      </p:sp>
      <p:pic>
        <p:nvPicPr>
          <p:cNvPr id="4" name="Picture 3" descr="page_8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097280"/>
            <a:ext cx="8229600" cy="294453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096D5-286B-471C-EECB-ACB90AAC0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</a:t>
            </a:r>
            <a:r>
              <a:rPr lang="en-US" dirty="0" err="1"/>
              <a:t>Analizi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98C8B-90D7-F746-E4A4-5FA18BA77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Attention </a:t>
            </a:r>
            <a:r>
              <a:rPr lang="en-US" b="1" dirty="0" err="1"/>
              <a:t>Analizi</a:t>
            </a:r>
            <a:endParaRPr lang="en-US" b="1" dirty="0"/>
          </a:p>
          <a:p>
            <a:r>
              <a:rPr lang="en-US" dirty="0"/>
              <a:t>Kaynak </a:t>
            </a:r>
            <a:r>
              <a:rPr lang="en-US" dirty="0" err="1"/>
              <a:t>bazlı</a:t>
            </a:r>
            <a:r>
              <a:rPr lang="en-US" dirty="0"/>
              <a:t> attention </a:t>
            </a:r>
            <a:r>
              <a:rPr lang="en-US" dirty="0" err="1"/>
              <a:t>skorları</a:t>
            </a:r>
            <a:endParaRPr lang="en-US" dirty="0"/>
          </a:p>
          <a:p>
            <a:r>
              <a:rPr lang="en-US" dirty="0"/>
              <a:t>Hangi </a:t>
            </a:r>
            <a:r>
              <a:rPr lang="en-US" dirty="0" err="1"/>
              <a:t>kaynak</a:t>
            </a:r>
            <a:r>
              <a:rPr lang="en-US" dirty="0"/>
              <a:t> </a:t>
            </a:r>
            <a:r>
              <a:rPr lang="en-US" dirty="0" err="1"/>
              <a:t>fiyatı</a:t>
            </a:r>
            <a:r>
              <a:rPr lang="en-US" dirty="0"/>
              <a:t> </a:t>
            </a:r>
            <a:r>
              <a:rPr lang="en-US" dirty="0" err="1"/>
              <a:t>etkiliyor</a:t>
            </a:r>
            <a:r>
              <a:rPr lang="en-US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397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EC6B0-7508-994B-DB79-0C17634AA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 &amp; GES 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28F4C-A839-D7DC-0117-F41AE3BD6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Rüzgar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Güneş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Etkisi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Fiyat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oluşumunda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baskın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GES: Gündüz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saatlerinde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dengeleyici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0199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C43CE-0477-68E5-09CD-83E76EAB5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Beklenen</a:t>
            </a:r>
            <a:r>
              <a:rPr lang="en-US" b="1" dirty="0"/>
              <a:t> </a:t>
            </a:r>
            <a:r>
              <a:rPr lang="en-US" b="1" dirty="0" err="1"/>
              <a:t>Sonuçlar</a:t>
            </a:r>
            <a:r>
              <a:rPr lang="en-US" b="1" dirty="0"/>
              <a:t> &amp; </a:t>
            </a:r>
            <a:r>
              <a:rPr lang="en-US" b="1" dirty="0" err="1"/>
              <a:t>Gerçekleşenler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4C994-9470-F832-0EA1-839F0877D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Rüzgar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fiyat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düşürücü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Güneş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dalgalanma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azaltıcı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GAT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klasik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modellere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üstün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0094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200" y="182880"/>
            <a:ext cx="684546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sz="2800"/>
              <a:t>Attention Analizi – Kaynak Bazlı Etkileşimler</a:t>
            </a:r>
          </a:p>
        </p:txBody>
      </p:sp>
      <p:pic>
        <p:nvPicPr>
          <p:cNvPr id="4" name="Picture 3" descr="page_9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097" y="706100"/>
            <a:ext cx="8229600" cy="634303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75400-3768-14E5-A523-2DFC3D3E6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Sonuç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Katkılar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384300-D3A8-2FD3-5281-699451A76A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5412" y="2741126"/>
            <a:ext cx="1150449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GNN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elektrik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piyasası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için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uygundur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Attention →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açıklanabilirlik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Yenilenebilir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etkisi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sayısallaştırıldı</a:t>
            </a:r>
            <a:endParaRPr kumimoji="0" lang="tr-T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Türkiye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elektrik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piyasasına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yönelik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özgün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GNN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uygulaması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sunulmuştur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Yenilenebilir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enerji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fiyat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ilişkisi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derin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öğrenme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analiz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edilmiştir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9976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201" y="182880"/>
            <a:ext cx="522534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sz="2800"/>
              <a:t>RES (Rüzgar) – Attention Dağılımı</a:t>
            </a:r>
          </a:p>
        </p:txBody>
      </p:sp>
      <p:pic>
        <p:nvPicPr>
          <p:cNvPr id="4" name="Picture 3" descr="page_11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097281"/>
            <a:ext cx="8229600" cy="267908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200" y="182880"/>
            <a:ext cx="522053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sz="2800"/>
              <a:t>GES (Güneş) – Attention Dağılımı</a:t>
            </a:r>
          </a:p>
        </p:txBody>
      </p:sp>
      <p:pic>
        <p:nvPicPr>
          <p:cNvPr id="4" name="Picture 3" descr="page_11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097280"/>
            <a:ext cx="8229600" cy="26993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7E070-435A-1106-E4AE-AEF37F9D2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Gelecek</a:t>
            </a:r>
            <a:r>
              <a:rPr lang="en-US" dirty="0"/>
              <a:t> </a:t>
            </a:r>
            <a:r>
              <a:rPr lang="en-US" dirty="0" err="1"/>
              <a:t>Çalışmalar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0D50E67-5EEF-8749-B0F7-0AE4A662F7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216466"/>
            <a:ext cx="506420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Bölgesel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node=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bölge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SMF +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çoklu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hedef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Talep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verisinin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eklenmesi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0062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F03A1-883E-780C-7067-BFC64D4BB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Genel </a:t>
            </a:r>
            <a:r>
              <a:rPr lang="en-US" dirty="0" err="1"/>
              <a:t>Değerlendirm</a:t>
            </a:r>
            <a:r>
              <a:rPr lang="tr-TR" dirty="0"/>
              <a:t>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4BB43-B09E-FBDF-742C-2565F255C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GNN </a:t>
            </a:r>
            <a:r>
              <a:rPr lang="en-US" dirty="0" err="1"/>
              <a:t>ve</a:t>
            </a:r>
            <a:r>
              <a:rPr lang="en-US" dirty="0"/>
              <a:t> GAT </a:t>
            </a:r>
            <a:r>
              <a:rPr lang="en-US" dirty="0" err="1"/>
              <a:t>modelleri</a:t>
            </a:r>
            <a:r>
              <a:rPr lang="en-US" dirty="0"/>
              <a:t>, </a:t>
            </a:r>
            <a:r>
              <a:rPr lang="en-US" dirty="0" err="1"/>
              <a:t>elektrik</a:t>
            </a:r>
            <a:r>
              <a:rPr lang="en-US" dirty="0"/>
              <a:t> </a:t>
            </a:r>
            <a:r>
              <a:rPr lang="en-US" dirty="0" err="1"/>
              <a:t>piyasası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ağ</a:t>
            </a:r>
            <a:r>
              <a:rPr lang="en-US" dirty="0"/>
              <a:t> </a:t>
            </a:r>
            <a:r>
              <a:rPr lang="en-US" dirty="0" err="1"/>
              <a:t>yapılı</a:t>
            </a:r>
            <a:r>
              <a:rPr lang="en-US" dirty="0"/>
              <a:t> </a:t>
            </a:r>
            <a:r>
              <a:rPr lang="en-US" dirty="0" err="1"/>
              <a:t>sistemler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uygundur</a:t>
            </a:r>
            <a:r>
              <a:rPr lang="en-US" dirty="0"/>
              <a:t>. </a:t>
            </a:r>
            <a:endParaRPr lang="tr-TR" dirty="0"/>
          </a:p>
          <a:p>
            <a:r>
              <a:rPr lang="en-US" dirty="0" err="1"/>
              <a:t>Çalışma</a:t>
            </a:r>
            <a:r>
              <a:rPr lang="en-US" dirty="0"/>
              <a:t>, hem </a:t>
            </a:r>
            <a:r>
              <a:rPr lang="en-US" dirty="0" err="1"/>
              <a:t>akademik</a:t>
            </a:r>
            <a:r>
              <a:rPr lang="en-US" dirty="0"/>
              <a:t> hem </a:t>
            </a:r>
            <a:r>
              <a:rPr lang="en-US" dirty="0" err="1"/>
              <a:t>uygulamalı</a:t>
            </a:r>
            <a:r>
              <a:rPr lang="en-US" dirty="0"/>
              <a:t> </a:t>
            </a:r>
            <a:r>
              <a:rPr lang="en-US" dirty="0" err="1"/>
              <a:t>açıdan</a:t>
            </a:r>
            <a:r>
              <a:rPr lang="en-US" dirty="0"/>
              <a:t> </a:t>
            </a:r>
            <a:r>
              <a:rPr lang="en-US" dirty="0" err="1"/>
              <a:t>anlamlı</a:t>
            </a:r>
            <a:r>
              <a:rPr lang="en-US" dirty="0"/>
              <a:t> </a:t>
            </a:r>
            <a:r>
              <a:rPr lang="en-US" dirty="0" err="1"/>
              <a:t>sonuçlar</a:t>
            </a:r>
            <a:r>
              <a:rPr lang="en-US" dirty="0"/>
              <a:t> </a:t>
            </a:r>
            <a:r>
              <a:rPr lang="en-US" dirty="0" err="1"/>
              <a:t>sunmaktadır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61680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34A2F-D21B-E5AB-032D-8D0B17FA2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Kaynaklar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D6A18-9A30-70D4-B837-2D0342A61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TEİAŞ Piyasa </a:t>
            </a:r>
            <a:r>
              <a:rPr lang="en-US" dirty="0" err="1"/>
              <a:t>Yönetim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 </a:t>
            </a:r>
            <a:endParaRPr lang="tr-TR" dirty="0"/>
          </a:p>
          <a:p>
            <a:r>
              <a:rPr lang="en-US" dirty="0"/>
              <a:t>Kipf &amp; Welling (2017) Graph Neural Networks </a:t>
            </a:r>
            <a:endParaRPr lang="tr-TR" dirty="0"/>
          </a:p>
          <a:p>
            <a:r>
              <a:rPr lang="en-US" dirty="0" err="1"/>
              <a:t>Veličković</a:t>
            </a:r>
            <a:r>
              <a:rPr lang="en-US" dirty="0"/>
              <a:t> et al. (2018) Graph Attention Network</a:t>
            </a:r>
            <a:r>
              <a:rPr lang="tr-TR" dirty="0"/>
              <a:t>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702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</TotalTime>
  <Words>544</Words>
  <Application>Microsoft Office PowerPoint</Application>
  <PresentationFormat>Widescreen</PresentationFormat>
  <Paragraphs>129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Aptos Display</vt:lpstr>
      <vt:lpstr>Arial</vt:lpstr>
      <vt:lpstr>Times New Roman</vt:lpstr>
      <vt:lpstr>Office Theme</vt:lpstr>
      <vt:lpstr>Graph Neural Network (GNN) ile Türkiye Elektrik Piyasasında Yenilenebilir Üretimin Fiyatlara Etkisinin Modellemesi</vt:lpstr>
      <vt:lpstr>İçindekiler</vt:lpstr>
      <vt:lpstr>Problem Tanımı</vt:lpstr>
      <vt:lpstr>Motivasyon</vt:lpstr>
      <vt:lpstr>Elektrik Fiyatlarının Zaman İçindeki Davranışı </vt:lpstr>
      <vt:lpstr>Elektrik Sistemi Bir Ağdır</vt:lpstr>
      <vt:lpstr>Neden GNN?</vt:lpstr>
      <vt:lpstr>Neden Graph Attention Network?</vt:lpstr>
      <vt:lpstr>Veri Seti</vt:lpstr>
      <vt:lpstr>Ön İşleme</vt:lpstr>
      <vt:lpstr>Graph Tanımı</vt:lpstr>
      <vt:lpstr>Node Feature Yapısı</vt:lpstr>
      <vt:lpstr>Model Mimarisi</vt:lpstr>
      <vt:lpstr>Baseline Model</vt:lpstr>
      <vt:lpstr>PowerPoint Presentation</vt:lpstr>
      <vt:lpstr>Baseline Sonuçları</vt:lpstr>
      <vt:lpstr>GAT Sonuçları</vt:lpstr>
      <vt:lpstr>PowerPoint Presentation</vt:lpstr>
      <vt:lpstr>Attention Analizi</vt:lpstr>
      <vt:lpstr>RES &amp; GES Attention</vt:lpstr>
      <vt:lpstr>Beklenen Sonuçlar &amp; Gerçekleşenler</vt:lpstr>
      <vt:lpstr>PowerPoint Presentation</vt:lpstr>
      <vt:lpstr>Sonuç ve Katkılar</vt:lpstr>
      <vt:lpstr>PowerPoint Presentation</vt:lpstr>
      <vt:lpstr>PowerPoint Presentation</vt:lpstr>
      <vt:lpstr>Gelecek Çalışmalar</vt:lpstr>
      <vt:lpstr>Genel Değerlendirme</vt:lpstr>
      <vt:lpstr>Kaynaklar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ufukkaraoglan@posta.mu.edu.tr</dc:creator>
  <cp:lastModifiedBy>ufukkaraoglan@posta.mu.edu.tr</cp:lastModifiedBy>
  <cp:revision>3</cp:revision>
  <dcterms:created xsi:type="dcterms:W3CDTF">2025-12-18T10:56:59Z</dcterms:created>
  <dcterms:modified xsi:type="dcterms:W3CDTF">2025-12-18T12:55:36Z</dcterms:modified>
</cp:coreProperties>
</file>